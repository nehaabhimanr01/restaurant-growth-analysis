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Restaurant Growth 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42316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2E6EB"/>
                </a:solidFill>
              </a:defRPr>
            </a:pPr>
            <a:r>
              <a:t>SkyCity Auckland Restaurants &amp; Bars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70332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Growth potential • profitability • channel strategy • strategic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Project 2 • Restaurant Growth Analysis •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1. Business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06C"/>
                </a:solidFill>
              </a:defRPr>
            </a:pPr>
            <a:r>
              <a:t>Turn restaurant-level operating data into practical growth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D1B2A"/>
                </a:solidFill>
              </a:defRPr>
            </a:pPr>
            <a:r>
              <a:t>Identify where growth potential is strongest across restaurants, segments and subregions.</a:t>
            </a:r>
          </a:p>
          <a:p>
            <a:pPr>
              <a:spcAft>
                <a:spcPts val="1200"/>
              </a:spcAft>
              <a:defRPr sz="1800">
                <a:solidFill>
                  <a:srgbClr val="0D1B2A"/>
                </a:solidFill>
              </a:defRPr>
            </a:pPr>
            <a:r>
              <a:t>Compare profitability across in-store, third-party delivery and self-delivery channels.</a:t>
            </a:r>
          </a:p>
          <a:p>
            <a:pPr>
              <a:spcAft>
                <a:spcPts val="1200"/>
              </a:spcAft>
              <a:defRPr sz="1800">
                <a:solidFill>
                  <a:srgbClr val="0D1B2A"/>
                </a:solidFill>
              </a:defRPr>
            </a:pPr>
            <a:r>
              <a:t>Build a transparent Growth Potential Score to classify restaurants into Low, Medium and High potential.</a:t>
            </a:r>
          </a:p>
          <a:p>
            <a:pPr>
              <a:spcAft>
                <a:spcPts val="1200"/>
              </a:spcAft>
              <a:defRPr sz="1800">
                <a:solidFill>
                  <a:srgbClr val="0D1B2A"/>
                </a:solidFill>
              </a:defRPr>
            </a:pPr>
            <a:r>
              <a:t>Translate the analysis into actions for revenue growth, channel optimization and margin improvement.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Project 2 • Restaurant Growth Analysis •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2. Dataset &amp; Data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06C"/>
                </a:solidFill>
              </a:defRPr>
            </a:pPr>
            <a:r>
              <a:t>1,696 restaurant records • 30 source fields • no missing values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468880" cy="1143000"/>
          </a:xfrm>
          <a:prstGeom prst="roundRect">
            <a:avLst/>
          </a:prstGeom>
          <a:solidFill>
            <a:srgbClr val="F5F8FA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5606C"/>
                </a:solidFill>
              </a:defRPr>
            </a:pPr>
            <a:r>
              <a:t>Restaurants</a:t>
            </a:r>
          </a:p>
          <a:p>
            <a:pPr>
              <a:defRPr sz="2200" b="1">
                <a:solidFill>
                  <a:srgbClr val="0D1B2A"/>
                </a:solidFill>
              </a:defRPr>
            </a:pPr>
            <a:r>
              <a:t>1,696</a:t>
            </a:r>
          </a:p>
          <a:p>
            <a:pPr>
              <a:defRPr sz="900">
                <a:solidFill>
                  <a:srgbClr val="55606C"/>
                </a:solidFill>
              </a:defRPr>
            </a:pPr>
            <a:r>
              <a:t>unique restaurant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417320"/>
            <a:ext cx="2468880" cy="1143000"/>
          </a:xfrm>
          <a:prstGeom prst="roundRect">
            <a:avLst/>
          </a:prstGeom>
          <a:solidFill>
            <a:srgbClr val="F5F8FA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5606C"/>
                </a:solidFill>
              </a:defRPr>
            </a:pPr>
            <a:r>
              <a:t>Source fields</a:t>
            </a:r>
          </a:p>
          <a:p>
            <a:pPr>
              <a:defRPr sz="2200" b="1">
                <a:solidFill>
                  <a:srgbClr val="0D1B2A"/>
                </a:solidFill>
              </a:defRPr>
            </a:pPr>
            <a:r>
              <a:t>30</a:t>
            </a:r>
          </a:p>
          <a:p>
            <a:pPr>
              <a:defRPr sz="900">
                <a:solidFill>
                  <a:srgbClr val="55606C"/>
                </a:solidFill>
              </a:defRPr>
            </a:pPr>
            <a:r>
              <a:t>operational + financial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417320"/>
            <a:ext cx="2468880" cy="1143000"/>
          </a:xfrm>
          <a:prstGeom prst="roundRect">
            <a:avLst/>
          </a:prstGeom>
          <a:solidFill>
            <a:srgbClr val="F5F8FA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5606C"/>
                </a:solidFill>
              </a:defRPr>
            </a:pPr>
            <a:r>
              <a:t>Monthly orders</a:t>
            </a:r>
          </a:p>
          <a:p>
            <a:pPr>
              <a:defRPr sz="2200" b="1">
                <a:solidFill>
                  <a:srgbClr val="0D1B2A"/>
                </a:solidFill>
              </a:defRPr>
            </a:pPr>
            <a:r>
              <a:t>2.02M</a:t>
            </a:r>
          </a:p>
          <a:p>
            <a:pPr>
              <a:defRPr sz="900">
                <a:solidFill>
                  <a:srgbClr val="55606C"/>
                </a:solidFill>
              </a:defRPr>
            </a:pPr>
            <a:r>
              <a:t>across all restaurants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1417320"/>
            <a:ext cx="2468880" cy="1143000"/>
          </a:xfrm>
          <a:prstGeom prst="roundRect">
            <a:avLst/>
          </a:prstGeom>
          <a:solidFill>
            <a:srgbClr val="F5F8FA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5606C"/>
                </a:solidFill>
              </a:defRPr>
            </a:pPr>
            <a:r>
              <a:t>Revenue</a:t>
            </a:r>
          </a:p>
          <a:p>
            <a:pPr>
              <a:defRPr sz="2200" b="1">
                <a:solidFill>
                  <a:srgbClr val="0D1B2A"/>
                </a:solidFill>
              </a:defRPr>
            </a:pPr>
            <a:r>
              <a:t>$77.74M</a:t>
            </a:r>
          </a:p>
          <a:p>
            <a:pPr>
              <a:defRPr sz="900">
                <a:solidFill>
                  <a:srgbClr val="55606C"/>
                </a:solidFill>
              </a:defRPr>
            </a:pPr>
            <a:r>
              <a:t>aggregated channel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D1B2A"/>
                </a:solidFill>
              </a:defRPr>
            </a:pPr>
            <a:r>
              <a:t>Dimensions: cuisine, segment and Auckland subregion.</a:t>
            </a:r>
          </a:p>
          <a:p>
            <a:pPr>
              <a:spcAft>
                <a:spcPts val="1200"/>
              </a:spcAft>
              <a:defRPr sz="1600">
                <a:solidFill>
                  <a:srgbClr val="0D1B2A"/>
                </a:solidFill>
              </a:defRPr>
            </a:pPr>
            <a:r>
              <a:t>Operating measures: AOV, orders, delivery radius and delivery cost.</a:t>
            </a:r>
          </a:p>
          <a:p>
            <a:pPr>
              <a:spcAft>
                <a:spcPts val="1200"/>
              </a:spcAft>
              <a:defRPr sz="1600">
                <a:solidFill>
                  <a:srgbClr val="0D1B2A"/>
                </a:solidFill>
              </a:defRPr>
            </a:pPr>
            <a:r>
              <a:t>Financial measures: revenue, COGS, OPEX, commission and channel-level net profit.</a:t>
            </a:r>
          </a:p>
          <a:p>
            <a:pPr>
              <a:spcAft>
                <a:spcPts val="1200"/>
              </a:spcAft>
              <a:defRPr sz="1600">
                <a:solidFill>
                  <a:srgbClr val="0D1B2A"/>
                </a:solidFill>
              </a:defRPr>
            </a:pPr>
            <a:r>
              <a:t>Quality check: channel orders reconcile exactly to MonthlyOrders for every record.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Project 2 • Restaurant Growth Analysis •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3. Overall Business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06C"/>
                </a:solidFill>
              </a:defRPr>
            </a:pPr>
            <a:r>
              <a:t>The dataset shows strong revenue scale, but profitability varies sharply by channel and format.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468880" cy="1143000"/>
          </a:xfrm>
          <a:prstGeom prst="roundRect">
            <a:avLst/>
          </a:prstGeom>
          <a:solidFill>
            <a:srgbClr val="F5F8FA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5606C"/>
                </a:solidFill>
              </a:defRPr>
            </a:pPr>
            <a:r>
              <a:t>Total revenue</a:t>
            </a:r>
          </a:p>
          <a:p>
            <a:pPr>
              <a:defRPr sz="2200" b="1">
                <a:solidFill>
                  <a:srgbClr val="0D1B2A"/>
                </a:solidFill>
              </a:defRPr>
            </a:pPr>
            <a:r>
              <a:t>$77.74M</a:t>
            </a:r>
          </a:p>
          <a:p>
            <a:pPr>
              <a:defRPr sz="900">
                <a:solidFill>
                  <a:srgbClr val="55606C"/>
                </a:solidFill>
              </a:defRPr>
            </a:pPr>
            <a:r>
              <a:t>all channels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371600"/>
            <a:ext cx="2468880" cy="1143000"/>
          </a:xfrm>
          <a:prstGeom prst="roundRect">
            <a:avLst/>
          </a:prstGeom>
          <a:solidFill>
            <a:srgbClr val="F5F8FA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5606C"/>
                </a:solidFill>
              </a:defRPr>
            </a:pPr>
            <a:r>
              <a:t>Net profit</a:t>
            </a:r>
          </a:p>
          <a:p>
            <a:pPr>
              <a:defRPr sz="2200" b="1">
                <a:solidFill>
                  <a:srgbClr val="0D1B2A"/>
                </a:solidFill>
              </a:defRPr>
            </a:pPr>
            <a:r>
              <a:t>$7.87M</a:t>
            </a:r>
          </a:p>
          <a:p>
            <a:pPr>
              <a:defRPr sz="900">
                <a:solidFill>
                  <a:srgbClr val="55606C"/>
                </a:solidFill>
              </a:defRPr>
            </a:pPr>
            <a:r>
              <a:t>all channels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371600"/>
            <a:ext cx="2468880" cy="1143000"/>
          </a:xfrm>
          <a:prstGeom prst="roundRect">
            <a:avLst/>
          </a:prstGeom>
          <a:solidFill>
            <a:srgbClr val="F5F8FA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5606C"/>
                </a:solidFill>
              </a:defRPr>
            </a:pPr>
            <a:r>
              <a:t>Profit margin</a:t>
            </a:r>
          </a:p>
          <a:p>
            <a:pPr>
              <a:defRPr sz="2200" b="1">
                <a:solidFill>
                  <a:srgbClr val="0D1B2A"/>
                </a:solidFill>
              </a:defRPr>
            </a:pPr>
            <a:r>
              <a:t>10.1%</a:t>
            </a:r>
          </a:p>
          <a:p>
            <a:pPr>
              <a:defRPr sz="900">
                <a:solidFill>
                  <a:srgbClr val="55606C"/>
                </a:solidFill>
              </a:defRPr>
            </a:pPr>
            <a:r>
              <a:t>portfolio-level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1371600"/>
            <a:ext cx="2468880" cy="1143000"/>
          </a:xfrm>
          <a:prstGeom prst="roundRect">
            <a:avLst/>
          </a:prstGeom>
          <a:solidFill>
            <a:srgbClr val="F5F8FA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5606C"/>
                </a:solidFill>
              </a:defRPr>
            </a:pPr>
            <a:r>
              <a:t>Monthly orders</a:t>
            </a:r>
          </a:p>
          <a:p>
            <a:pPr>
              <a:defRPr sz="2200" b="1">
                <a:solidFill>
                  <a:srgbClr val="0D1B2A"/>
                </a:solidFill>
              </a:defRPr>
            </a:pPr>
            <a:r>
              <a:t>2.02M</a:t>
            </a:r>
          </a:p>
          <a:p>
            <a:pPr>
              <a:defRPr sz="900">
                <a:solidFill>
                  <a:srgbClr val="55606C"/>
                </a:solidFill>
              </a:defRPr>
            </a:pPr>
            <a:r>
              <a:t>combined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D1B2A"/>
                </a:solidFill>
              </a:defRPr>
            </a:pPr>
            <a:r>
              <a:t>Full-service restaurants generate $1.30M in net losses in the dataset.</a:t>
            </a:r>
          </a:p>
          <a:p>
            <a:pPr>
              <a:spcAft>
                <a:spcPts val="1200"/>
              </a:spcAft>
              <a:defRPr sz="1600">
                <a:solidFill>
                  <a:srgbClr val="0D1B2A"/>
                </a:solidFill>
              </a:defRPr>
            </a:pPr>
            <a:r>
              <a:t>In-store and self-delivery are substantially more profitable than third-party delivery channels.</a:t>
            </a:r>
          </a:p>
          <a:p>
            <a:pPr>
              <a:spcAft>
                <a:spcPts val="1200"/>
              </a:spcAft>
              <a:defRPr sz="1600">
                <a:solidFill>
                  <a:srgbClr val="0D1B2A"/>
                </a:solidFill>
              </a:defRPr>
            </a:pPr>
            <a:r>
              <a:t>High growth potential is concentrated in South Auckland and West Auckland, while CBD records carry a lower growth factor.</a:t>
            </a:r>
          </a:p>
        </p:txBody>
      </p:sp>
      <p:pic>
        <p:nvPicPr>
          <p:cNvPr id="9" name="Picture 8" descr="segment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880360"/>
            <a:ext cx="5577840" cy="310193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Project 2 • Restaurant Growth Analysis •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4. Channel Profitability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06C"/>
                </a:solidFill>
              </a:defRPr>
            </a:pPr>
            <a:r>
              <a:t>Revenue scale does not automatically translate into profit.</a:t>
            </a:r>
          </a:p>
        </p:txBody>
      </p:sp>
      <p:pic>
        <p:nvPicPr>
          <p:cNvPr id="4" name="Picture 3" descr="channel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400800" cy="35650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78040" y="1417320"/>
            <a:ext cx="4343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0D1B2A"/>
                </a:solidFill>
              </a:defRPr>
            </a:pPr>
            <a:r>
              <a:t>In-store margin: 26.8%</a:t>
            </a:r>
          </a:p>
          <a:p>
            <a:pPr>
              <a:spcAft>
                <a:spcPts val="1200"/>
              </a:spcAft>
              <a:defRPr sz="1500">
                <a:solidFill>
                  <a:srgbClr val="0D1B2A"/>
                </a:solidFill>
              </a:defRPr>
            </a:pPr>
            <a:r>
              <a:t>Self-delivery margin: 22.9%</a:t>
            </a:r>
          </a:p>
          <a:p>
            <a:pPr>
              <a:spcAft>
                <a:spcPts val="1200"/>
              </a:spcAft>
              <a:defRPr sz="1500">
                <a:solidFill>
                  <a:srgbClr val="0D1B2A"/>
                </a:solidFill>
              </a:defRPr>
            </a:pPr>
            <a:r>
              <a:t>Uber Eats margin: 0.8%</a:t>
            </a:r>
          </a:p>
          <a:p>
            <a:pPr>
              <a:spcAft>
                <a:spcPts val="1200"/>
              </a:spcAft>
              <a:defRPr sz="1500">
                <a:solidFill>
                  <a:srgbClr val="0D1B2A"/>
                </a:solidFill>
              </a:defRPr>
            </a:pPr>
            <a:r>
              <a:t>DoorDash margin: 0.9%</a:t>
            </a:r>
          </a:p>
          <a:p>
            <a:pPr>
              <a:spcAft>
                <a:spcPts val="1200"/>
              </a:spcAft>
              <a:defRPr sz="1500">
                <a:solidFill>
                  <a:srgbClr val="0D1B2A"/>
                </a:solidFill>
              </a:defRPr>
            </a:pPr>
            <a:r>
              <a:t>Third-party channels carry high commission exposure; 31.7% of restaurants are loss-making on each of Uber Eats and DoorDash in this dataset.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Project 2 • Restaurant Growth Analysis •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5. Segment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06C"/>
                </a:solidFill>
              </a:defRPr>
            </a:pPr>
            <a:r>
              <a:t>Format economics reveal where operational models are working best.</a:t>
            </a:r>
          </a:p>
        </p:txBody>
      </p:sp>
      <p:pic>
        <p:nvPicPr>
          <p:cNvPr id="4" name="Picture 3" descr="segment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126480" cy="34070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3720" y="14630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D1B2A"/>
                </a:solidFill>
              </a:defRPr>
            </a:pPr>
            <a:r>
              <a:t>Cafe: 3.77M profit • 16.2% margin</a:t>
            </a:r>
          </a:p>
          <a:p>
            <a:pPr>
              <a:spcAft>
                <a:spcPts val="1200"/>
              </a:spcAft>
              <a:defRPr sz="1600">
                <a:solidFill>
                  <a:srgbClr val="0D1B2A"/>
                </a:solidFill>
              </a:defRPr>
            </a:pPr>
            <a:r>
              <a:t>QSR: 3.61M profit • 15.1% margin</a:t>
            </a:r>
          </a:p>
          <a:p>
            <a:pPr>
              <a:spcAft>
                <a:spcPts val="1200"/>
              </a:spcAft>
              <a:defRPr sz="1600">
                <a:solidFill>
                  <a:srgbClr val="0D1B2A"/>
                </a:solidFill>
              </a:defRPr>
            </a:pPr>
            <a:r>
              <a:t>Ghost Kitchen: 1.78M profit • 22.2% margin</a:t>
            </a:r>
          </a:p>
          <a:p>
            <a:pPr>
              <a:spcAft>
                <a:spcPts val="1200"/>
              </a:spcAft>
              <a:defRPr sz="1600">
                <a:solidFill>
                  <a:srgbClr val="0D1B2A"/>
                </a:solidFill>
              </a:defRPr>
            </a:pPr>
            <a:r>
              <a:t>Full-service: -1.30M profit • -5.8% margin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Project 2 • Restaurant Growth Analysis •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6. Where Growth Is Concentrated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06C"/>
                </a:solidFill>
              </a:defRPr>
            </a:pPr>
            <a:r>
              <a:t>Subregion growth factors provide a clear geographic signal.</a:t>
            </a:r>
          </a:p>
        </p:txBody>
      </p:sp>
      <p:pic>
        <p:nvPicPr>
          <p:cNvPr id="4" name="Picture 3" descr="subregion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852160" cy="32594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20840" y="1417320"/>
            <a:ext cx="4709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0D1B2A"/>
                </a:solidFill>
              </a:defRPr>
            </a:pPr>
            <a:r>
              <a:t>South Auckland: growth factor 1.05; 441 restaurants.</a:t>
            </a:r>
          </a:p>
          <a:p>
            <a:pPr>
              <a:spcAft>
                <a:spcPts val="1200"/>
              </a:spcAft>
              <a:defRPr sz="1500">
                <a:solidFill>
                  <a:srgbClr val="0D1B2A"/>
                </a:solidFill>
              </a:defRPr>
            </a:pPr>
            <a:r>
              <a:t>West Auckland: growth factor 1.04; 462 restaurants.</a:t>
            </a:r>
          </a:p>
          <a:p>
            <a:pPr>
              <a:spcAft>
                <a:spcPts val="1200"/>
              </a:spcAft>
              <a:defRPr sz="1500">
                <a:solidFill>
                  <a:srgbClr val="0D1B2A"/>
                </a:solidFill>
              </a:defRPr>
            </a:pPr>
            <a:r>
              <a:t>North Shore: growth factor 1.03; 383 restaurants.</a:t>
            </a:r>
          </a:p>
          <a:p>
            <a:pPr>
              <a:spcAft>
                <a:spcPts val="1200"/>
              </a:spcAft>
              <a:defRPr sz="1500">
                <a:solidFill>
                  <a:srgbClr val="0D1B2A"/>
                </a:solidFill>
              </a:defRPr>
            </a:pPr>
            <a:r>
              <a:t>CBD: growth factor 0.99; 410 restaurants.</a:t>
            </a:r>
          </a:p>
          <a:p>
            <a:pPr>
              <a:spcAft>
                <a:spcPts val="1200"/>
              </a:spcAft>
              <a:defRPr sz="1500">
                <a:solidFill>
                  <a:srgbClr val="0D1B2A"/>
                </a:solidFill>
              </a:defRPr>
            </a:pPr>
            <a:r>
              <a:t>Top cuisine by net profit: Burgers ($2.33M).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Project 2 • Restaurant Growth Analysis •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7. Growth Potential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06C"/>
                </a:solidFill>
              </a:defRPr>
            </a:pPr>
            <a:r>
              <a:t>A transparent composite score converts multiple business signals into one decision metric.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743200" cy="1143000"/>
          </a:xfrm>
          <a:prstGeom prst="roundRect">
            <a:avLst/>
          </a:prstGeom>
          <a:solidFill>
            <a:srgbClr val="F5F8FA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5606C"/>
                </a:solidFill>
              </a:defRPr>
            </a:pPr>
            <a:r>
              <a:t>Growth factor</a:t>
            </a:r>
          </a:p>
          <a:p>
            <a:pPr>
              <a:defRPr sz="2200" b="1">
                <a:solidFill>
                  <a:srgbClr val="0D1B2A"/>
                </a:solidFill>
              </a:defRPr>
            </a:pPr>
            <a:r>
              <a:t>30%</a:t>
            </a:r>
          </a:p>
          <a:p>
            <a:pPr>
              <a:defRPr sz="900">
                <a:solidFill>
                  <a:srgbClr val="55606C"/>
                </a:solidFill>
              </a:defRPr>
            </a:pPr>
            <a:r>
              <a:t>model weight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80" y="1325880"/>
            <a:ext cx="2743200" cy="1143000"/>
          </a:xfrm>
          <a:prstGeom prst="roundRect">
            <a:avLst/>
          </a:prstGeom>
          <a:solidFill>
            <a:srgbClr val="F5F8FA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5606C"/>
                </a:solidFill>
              </a:defRPr>
            </a:pPr>
            <a:r>
              <a:t>Profit margin</a:t>
            </a:r>
          </a:p>
          <a:p>
            <a:pPr>
              <a:defRPr sz="2200" b="1">
                <a:solidFill>
                  <a:srgbClr val="0D1B2A"/>
                </a:solidFill>
              </a:defRPr>
            </a:pPr>
            <a:r>
              <a:t>35%</a:t>
            </a:r>
          </a:p>
          <a:p>
            <a:pPr>
              <a:defRPr sz="900">
                <a:solidFill>
                  <a:srgbClr val="55606C"/>
                </a:solidFill>
              </a:defRPr>
            </a:pPr>
            <a:r>
              <a:t>model weight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325880"/>
            <a:ext cx="2743200" cy="1143000"/>
          </a:xfrm>
          <a:prstGeom prst="roundRect">
            <a:avLst/>
          </a:prstGeom>
          <a:solidFill>
            <a:srgbClr val="F5F8FA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5606C"/>
                </a:solidFill>
              </a:defRPr>
            </a:pPr>
            <a:r>
              <a:t>Monthly orders</a:t>
            </a:r>
          </a:p>
          <a:p>
            <a:pPr>
              <a:defRPr sz="2200" b="1">
                <a:solidFill>
                  <a:srgbClr val="0D1B2A"/>
                </a:solidFill>
              </a:defRPr>
            </a:pPr>
            <a:r>
              <a:t>20%</a:t>
            </a:r>
          </a:p>
          <a:p>
            <a:pPr>
              <a:defRPr sz="900">
                <a:solidFill>
                  <a:srgbClr val="55606C"/>
                </a:solidFill>
              </a:defRPr>
            </a:pPr>
            <a:r>
              <a:t>model weight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55480" y="1325880"/>
            <a:ext cx="1920240" cy="1143000"/>
          </a:xfrm>
          <a:prstGeom prst="roundRect">
            <a:avLst/>
          </a:prstGeom>
          <a:solidFill>
            <a:srgbClr val="F5F8FA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5606C"/>
                </a:solidFill>
              </a:defRPr>
            </a:pPr>
            <a:r>
              <a:t>AOV</a:t>
            </a:r>
          </a:p>
          <a:p>
            <a:pPr>
              <a:defRPr sz="2200" b="1">
                <a:solidFill>
                  <a:srgbClr val="0D1B2A"/>
                </a:solidFill>
              </a:defRPr>
            </a:pPr>
            <a:r>
              <a:t>15%</a:t>
            </a:r>
          </a:p>
          <a:p>
            <a:pPr>
              <a:defRPr sz="900">
                <a:solidFill>
                  <a:srgbClr val="55606C"/>
                </a:solidFill>
              </a:defRPr>
            </a:pPr>
            <a:r>
              <a:t>model weight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10515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D1B2A"/>
                </a:solidFill>
              </a:defRPr>
            </a:pPr>
            <a:r>
              <a:t>Each feature is min-max normalized to a 0–100 scale.</a:t>
            </a:r>
          </a:p>
          <a:p>
            <a:pPr>
              <a:spcAft>
                <a:spcPts val="1200"/>
              </a:spcAft>
              <a:defRPr sz="1600">
                <a:solidFill>
                  <a:srgbClr val="0D1B2A"/>
                </a:solidFill>
              </a:defRPr>
            </a:pPr>
            <a:r>
              <a:t>The weighted score ranges from 0 to 100.</a:t>
            </a:r>
          </a:p>
          <a:p>
            <a:pPr>
              <a:spcAft>
                <a:spcPts val="1200"/>
              </a:spcAft>
              <a:defRPr sz="1600">
                <a:solidFill>
                  <a:srgbClr val="0D1B2A"/>
                </a:solidFill>
              </a:defRPr>
            </a:pPr>
            <a:r>
              <a:t>Classification uses portfolio score bands: Low &lt; 45.8; Medium 45.8–63.5; High &gt; 63.5.</a:t>
            </a:r>
          </a:p>
          <a:p>
            <a:pPr>
              <a:spcAft>
                <a:spcPts val="1200"/>
              </a:spcAft>
              <a:defRPr sz="1600">
                <a:solidFill>
                  <a:srgbClr val="0D1B2A"/>
                </a:solidFill>
              </a:defRPr>
            </a:pPr>
            <a:r>
              <a:t>The model is designed as a prioritization tool, not a guarantee of future performance.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Project 2 • Restaurant Growth Analysis •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8. Strategic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06C"/>
                </a:solidFill>
              </a:defRPr>
            </a:pPr>
            <a:r>
              <a:t>High-potential restaurants combine stronger economics with stronger growth signals.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291840" cy="1143000"/>
          </a:xfrm>
          <a:prstGeom prst="roundRect">
            <a:avLst/>
          </a:prstGeom>
          <a:solidFill>
            <a:srgbClr val="F5F8FA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5606C"/>
                </a:solidFill>
              </a:defRPr>
            </a:pPr>
            <a:r>
              <a:t>High potential</a:t>
            </a:r>
          </a:p>
          <a:p>
            <a:pPr>
              <a:defRPr sz="2200" b="1">
                <a:solidFill>
                  <a:srgbClr val="0D1B2A"/>
                </a:solidFill>
              </a:defRPr>
            </a:pPr>
            <a:r>
              <a:t>509</a:t>
            </a:r>
          </a:p>
          <a:p>
            <a:pPr>
              <a:defRPr sz="900">
                <a:solidFill>
                  <a:srgbClr val="55606C"/>
                </a:solidFill>
              </a:defRPr>
            </a:pPr>
            <a:r>
              <a:t>restaurants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371600"/>
            <a:ext cx="3291840" cy="1143000"/>
          </a:xfrm>
          <a:prstGeom prst="roundRect">
            <a:avLst/>
          </a:prstGeom>
          <a:solidFill>
            <a:srgbClr val="F5F8FA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5606C"/>
                </a:solidFill>
              </a:defRPr>
            </a:pPr>
            <a:r>
              <a:t>High-potential profit</a:t>
            </a:r>
          </a:p>
          <a:p>
            <a:pPr>
              <a:defRPr sz="2200" b="1">
                <a:solidFill>
                  <a:srgbClr val="0D1B2A"/>
                </a:solidFill>
              </a:defRPr>
            </a:pPr>
            <a:r>
              <a:t>$4.93M</a:t>
            </a:r>
          </a:p>
          <a:p>
            <a:pPr>
              <a:defRPr sz="900">
                <a:solidFill>
                  <a:srgbClr val="55606C"/>
                </a:solidFill>
              </a:defRPr>
            </a:pPr>
            <a:r>
              <a:t>aggregate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371600"/>
            <a:ext cx="3291840" cy="1143000"/>
          </a:xfrm>
          <a:prstGeom prst="roundRect">
            <a:avLst/>
          </a:prstGeom>
          <a:solidFill>
            <a:srgbClr val="F5F8FA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5606C"/>
                </a:solidFill>
              </a:defRPr>
            </a:pPr>
            <a:r>
              <a:t>High-potential margin</a:t>
            </a:r>
          </a:p>
          <a:p>
            <a:pPr>
              <a:defRPr sz="2200" b="1">
                <a:solidFill>
                  <a:srgbClr val="0D1B2A"/>
                </a:solidFill>
              </a:defRPr>
            </a:pPr>
            <a:r>
              <a:t>17.6%</a:t>
            </a:r>
          </a:p>
          <a:p>
            <a:pPr>
              <a:defRPr sz="900">
                <a:solidFill>
                  <a:srgbClr val="55606C"/>
                </a:solidFill>
              </a:defRPr>
            </a:pPr>
            <a:r>
              <a:t>aggregate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D1B2A"/>
                </a:solidFill>
              </a:defRPr>
            </a:pPr>
            <a:r>
              <a:t>HIGH: prioritize expansion, menu optimization, local demand capture and self-delivery capacity.</a:t>
            </a:r>
          </a:p>
          <a:p>
            <a:pPr>
              <a:spcAft>
                <a:spcPts val="1200"/>
              </a:spcAft>
              <a:defRPr sz="1600">
                <a:solidFill>
                  <a:srgbClr val="0D1B2A"/>
                </a:solidFill>
              </a:defRPr>
            </a:pPr>
            <a:r>
              <a:t>MEDIUM: improve conversion, AOV and channel mix before major expansion.</a:t>
            </a:r>
          </a:p>
          <a:p>
            <a:pPr>
              <a:spcAft>
                <a:spcPts val="1200"/>
              </a:spcAft>
              <a:defRPr sz="1600">
                <a:solidFill>
                  <a:srgbClr val="0D1B2A"/>
                </a:solidFill>
              </a:defRPr>
            </a:pPr>
            <a:r>
              <a:t>LOW: focus on cost control, third-party commission reduction and format-specific turnaround actions.</a:t>
            </a:r>
          </a:p>
          <a:p>
            <a:pPr>
              <a:spcAft>
                <a:spcPts val="1200"/>
              </a:spcAft>
              <a:defRPr sz="1600">
                <a:solidFill>
                  <a:srgbClr val="0D1B2A"/>
                </a:solidFill>
              </a:defRPr>
            </a:pPr>
            <a:r>
              <a:t>The high class contains 197 Cafe, 186 QSR and 110 Ghost Kitchen restaurants, but only 16 Full-service restaurants.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Project 2 • Restaurant Growth Analysis •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9. Strategic Action Plan &amp;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06C"/>
                </a:solidFill>
              </a:defRPr>
            </a:pPr>
            <a:r>
              <a:t>Use the scorecard to move from analysis to targeted intervention.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0D1B2A"/>
                </a:solidFill>
              </a:defRPr>
            </a:pPr>
            <a:r>
              <a:t>1 • Protect profitable channels: strengthen in-store and self-delivery where unit economics are favorable.</a:t>
            </a:r>
          </a:p>
          <a:p>
            <a:pPr>
              <a:spcAft>
                <a:spcPts val="1200"/>
              </a:spcAft>
              <a:defRPr sz="1700">
                <a:solidFill>
                  <a:srgbClr val="0D1B2A"/>
                </a:solidFill>
              </a:defRPr>
            </a:pPr>
            <a:r>
              <a:t>2 • Reprice or redesign weak delivery offers: review commissions, menu pricing, bundles and minimum order values.</a:t>
            </a:r>
          </a:p>
          <a:p>
            <a:pPr>
              <a:spcAft>
                <a:spcPts val="1200"/>
              </a:spcAft>
              <a:defRPr sz="1700">
                <a:solidFill>
                  <a:srgbClr val="0D1B2A"/>
                </a:solidFill>
              </a:defRPr>
            </a:pPr>
            <a:r>
              <a:t>3 • Prioritize South &amp; West Auckland growth pockets using the restaurant-level score.</a:t>
            </a:r>
          </a:p>
          <a:p>
            <a:pPr>
              <a:spcAft>
                <a:spcPts val="1200"/>
              </a:spcAft>
              <a:defRPr sz="1700">
                <a:solidFill>
                  <a:srgbClr val="0D1B2A"/>
                </a:solidFill>
              </a:defRPr>
            </a:pPr>
            <a:r>
              <a:t>4 • Review full-service economics: the segment is loss-making in aggregate despite meaningful revenue volume.</a:t>
            </a:r>
          </a:p>
          <a:p>
            <a:pPr>
              <a:spcAft>
                <a:spcPts val="1200"/>
              </a:spcAft>
              <a:defRPr sz="1700">
                <a:solidFill>
                  <a:srgbClr val="0D1B2A"/>
                </a:solidFill>
              </a:defRPr>
            </a:pPr>
            <a:r>
              <a:t>5 • Build a Streamlit dashboard with filters for subregion, segment, cuisine, channel and growth class.</a:t>
            </a:r>
          </a:p>
          <a:p>
            <a:pPr>
              <a:spcAft>
                <a:spcPts val="1200"/>
              </a:spcAft>
              <a:defRPr sz="1700">
                <a:solidFill>
                  <a:srgbClr val="0D1B2A"/>
                </a:solidFill>
              </a:defRPr>
            </a:pPr>
            <a:r>
              <a:t>Next: publish the dashboard + documentation, then capture the project feedback video for submission.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Project 2 • Restaurant Growth Analysis •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